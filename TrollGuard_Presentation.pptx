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TrollGuard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Cyberbullying Detector with Contextual Understanding</a:t>
            </a:r>
          </a:p>
          <a:p>
            <a:pPr lvl="0" indent="0" marL="0">
              <a:buNone/>
            </a:pPr>
            <a:r>
              <a:rPr/>
              <a:t>B.Sc. Computer Science Final Year Project</a:t>
            </a:r>
          </a:p>
          <a:p>
            <a:pPr lvl="0" indent="0" marL="0">
              <a:buNone/>
            </a:pPr>
            <a:r>
              <a:rPr/>
              <a:t>[College Name] | [Academic Year]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Introduction &amp; Problem</a:t>
            </a:r>
          </a:p>
          <a:p>
            <a:pPr lvl="0" indent="-342900" marL="342900">
              <a:buAutoNum type="arabicPeriod"/>
            </a:pPr>
            <a:r>
              <a:rPr/>
              <a:t>System Study &amp; Background</a:t>
            </a:r>
          </a:p>
          <a:p>
            <a:pPr lvl="0" indent="-342900" marL="342900">
              <a:buAutoNum type="arabicPeriod"/>
            </a:pPr>
            <a:r>
              <a:rPr/>
              <a:t>Requirements &amp; Design</a:t>
            </a:r>
          </a:p>
          <a:p>
            <a:pPr lvl="0" indent="-342900" marL="342900">
              <a:buAutoNum type="arabicPeriod"/>
            </a:pPr>
            <a:r>
              <a:rPr/>
              <a:t>Methodology &amp; Modules</a:t>
            </a:r>
          </a:p>
          <a:p>
            <a:pPr lvl="0" indent="-342900" marL="342900">
              <a:buAutoNum type="arabicPeriod"/>
            </a:pPr>
            <a:r>
              <a:rPr/>
              <a:t>Implementation &amp; Datasets</a:t>
            </a:r>
          </a:p>
          <a:p>
            <a:pPr lvl="0" indent="-342900" marL="342900">
              <a:buAutoNum type="arabicPeriod"/>
            </a:pPr>
            <a:r>
              <a:rPr/>
              <a:t>Results &amp; Evaluation</a:t>
            </a:r>
          </a:p>
          <a:p>
            <a:pPr lvl="0" indent="-342900" marL="342900">
              <a:buAutoNum type="arabicPeriod"/>
            </a:pPr>
            <a:r>
              <a:rPr/>
              <a:t>Limitations &amp; Future Work</a:t>
            </a:r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Problem:</a:t>
            </a:r>
            <a:r>
              <a:rPr/>
              <a:t> Cyberbullying and online harassment on social media</a:t>
            </a:r>
          </a:p>
          <a:p>
            <a:pPr lvl="0"/>
            <a:r>
              <a:rPr b="1"/>
              <a:t>Challenge:</a:t>
            </a:r>
            <a:r>
              <a:rPr/>
              <a:t> Manual moderation is slow, subjective, and hard to scale</a:t>
            </a:r>
          </a:p>
          <a:p>
            <a:pPr lvl="0"/>
            <a:r>
              <a:rPr b="1"/>
              <a:t>Solution:</a:t>
            </a:r>
            <a:r>
              <a:rPr/>
              <a:t> Automated text-based detection using NLP and ML</a:t>
            </a:r>
          </a:p>
          <a:p>
            <a:pPr lvl="0"/>
            <a:r>
              <a:rPr b="1"/>
              <a:t>Project:</a:t>
            </a:r>
            <a:r>
              <a:rPr/>
              <a:t> TrollGuard – end-to-end pipeline from data to prediction</a:t>
            </a:r>
          </a:p>
          <a:p>
            <a:pPr lvl="0"/>
            <a:r>
              <a:rPr b="1"/>
              <a:t>Output:</a:t>
            </a:r>
            <a:r>
              <a:rPr/>
              <a:t> Binary classification (0 = non-bullying, 1 = bullying) with web UI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Cyberbullying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Bullying through digital channels: posts, comments, DMs, group chats</a:t>
            </a:r>
          </a:p>
          <a:p>
            <a:pPr lvl="0"/>
            <a:r>
              <a:rPr/>
              <a:t>Can be direct insults, threats, exclusion, or subtle harassment</a:t>
            </a:r>
          </a:p>
          <a:p>
            <a:pPr lvl="0"/>
            <a:r>
              <a:rPr/>
              <a:t>Impact: depression, anxiety, poor academic performance</a:t>
            </a:r>
          </a:p>
          <a:p>
            <a:pPr lvl="0"/>
            <a:r>
              <a:rPr b="1"/>
              <a:t>Need:</a:t>
            </a:r>
            <a:r>
              <a:rPr/>
              <a:t> Assistive tools for moderators, educators, and parents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Text Classification Evolution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Strengths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Keyword lists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Simple, fast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Classical 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TF-IDF, BoW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Good baselines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Neural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Embeddings, CNN/RNN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Learns patterns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Contextual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Transformers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Nuanced understanding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TrollGuard:</a:t>
            </a:r>
            <a:r>
              <a:rPr/>
              <a:t> TF-IDF + Logistic Regression (interpretable baseline)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Hardware:</a:t>
            </a:r>
            <a:r>
              <a:rPr/>
              <a:t> Laptop, 8 GB RAM, internet</a:t>
            </a:r>
          </a:p>
          <a:p>
            <a:pPr lvl="0"/>
            <a:r>
              <a:rPr b="1"/>
              <a:t>Software:</a:t>
            </a:r>
            <a:r>
              <a:rPr/>
              <a:t> Python 3.8+, scikit-learn, pandas, joblib, Streamlit</a:t>
            </a:r>
          </a:p>
          <a:p>
            <a:pPr lvl="0"/>
            <a:r>
              <a:rPr b="1"/>
              <a:t>Functional:</a:t>
            </a:r>
          </a:p>
          <a:p>
            <a:pPr lvl="1"/>
            <a:r>
              <a:rPr/>
              <a:t>Load CSV → Clean → Train → Predict</a:t>
            </a:r>
          </a:p>
          <a:p>
            <a:pPr lvl="1"/>
            <a:r>
              <a:rPr/>
              <a:t>Single / paste bulk / batch CSV prediction (10K row limit, progress bar)</a:t>
            </a:r>
          </a:p>
          <a:p>
            <a:pPr lvl="1"/>
            <a:r>
              <a:rPr/>
              <a:t>Multi-format chat (WhatsApp, Telegram, Discord) via upload or paste</a:t>
            </a:r>
          </a:p>
          <a:p>
            <a:pPr lvl="1"/>
            <a:r>
              <a:rPr/>
              <a:t>Date filter and per-sender summary; CSV export</a:t>
            </a:r>
          </a:p>
          <a:p>
            <a:pPr lvl="1"/>
            <a:r>
              <a:rPr/>
              <a:t>Train from app with downloadable report and confusion matrix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Raw Text → Cleaning → TF-IDF → Logistic Regression → Label (0/1)</a:t>
            </a:r>
          </a:p>
          <a:p>
            <a:pPr lvl="0"/>
            <a:r>
              <a:rPr b="1"/>
              <a:t>Input:</a:t>
            </a:r>
            <a:r>
              <a:rPr/>
              <a:t> Short messages (tweets, comments, chat); single text, paste bulk, batch CSV, chat export</a:t>
            </a:r>
          </a:p>
          <a:p>
            <a:pPr lvl="0"/>
            <a:r>
              <a:rPr b="1"/>
              <a:t>Output:</a:t>
            </a:r>
            <a:r>
              <a:rPr/>
              <a:t> Binary: 0 = non-bullying, 1 = bullying; per-sender chat summaries</a:t>
            </a:r>
          </a:p>
          <a:p>
            <a:pPr lvl="0"/>
            <a:r>
              <a:rPr b="1"/>
              <a:t>Features:</a:t>
            </a:r>
            <a:r>
              <a:rPr/>
              <a:t> TF-IDF (ngrams 1–2, min_df=2, max_df=0.95)</a:t>
            </a:r>
          </a:p>
          <a:p>
            <a:pPr lvl="0"/>
            <a:r>
              <a:rPr b="1"/>
              <a:t>Limits:</a:t>
            </a:r>
            <a:r>
              <a:rPr/>
              <a:t> 50K chars per text area; 10K rows per batch CSV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Data Loader</a:t>
            </a:r>
            <a:r>
              <a:rPr/>
              <a:t> – Load </a:t>
            </a:r>
            <a:r>
              <a:rPr>
                <a:latin typeface="Courier"/>
              </a:rPr>
              <a:t>*_parsed_dataset.csv</a:t>
            </a:r>
            <a:r>
              <a:rPr/>
              <a:t>; normalise labels; sample fallback when empty</a:t>
            </a:r>
          </a:p>
          <a:p>
            <a:pPr lvl="0" indent="-342900" marL="342900">
              <a:buAutoNum type="arabicPeriod"/>
            </a:pPr>
            <a:r>
              <a:rPr b="1"/>
              <a:t>Chat Parser</a:t>
            </a:r>
            <a:r>
              <a:rPr/>
              <a:t> – WhatsApp, Telegram, Discord; malformed lines → sender=“Unknown”</a:t>
            </a:r>
          </a:p>
          <a:p>
            <a:pPr lvl="0" indent="-342900" marL="342900">
              <a:buAutoNum type="arabicPeriod"/>
            </a:pPr>
            <a:r>
              <a:rPr b="1"/>
              <a:t>Text Cleaning</a:t>
            </a:r>
            <a:r>
              <a:rPr/>
              <a:t> – Lowercase; remove URLs, @mentions, #hashtags; keep letters</a:t>
            </a:r>
          </a:p>
          <a:p>
            <a:pPr lvl="0" indent="-342900" marL="342900">
              <a:buAutoNum type="arabicPeriod"/>
            </a:pPr>
            <a:r>
              <a:rPr b="1"/>
              <a:t>TF-IDF</a:t>
            </a:r>
            <a:r>
              <a:rPr/>
              <a:t> – Vectorise text (unigrams + bigrams)</a:t>
            </a:r>
          </a:p>
          <a:p>
            <a:pPr lvl="0" indent="-342900" marL="342900">
              <a:buAutoNum type="arabicPeriod"/>
            </a:pPr>
            <a:r>
              <a:rPr b="1"/>
              <a:t>Model</a:t>
            </a:r>
            <a:r>
              <a:rPr/>
              <a:t> – Logistic Regression; feature importance (top bullying/safe words)</a:t>
            </a:r>
          </a:p>
          <a:p>
            <a:pPr lvl="0" indent="-342900" marL="342900">
              <a:buAutoNum type="arabicPeriod"/>
            </a:pPr>
            <a:r>
              <a:rPr b="1"/>
              <a:t>Streamlit App</a:t>
            </a:r>
            <a:r>
              <a:rPr/>
              <a:t> – Predict (single/paste/batch), Chat analysis (upload/paste, format selector, date filter, export), Train, About</a:t>
            </a:r>
          </a:p>
          <a:p>
            <a:pPr lvl="0" indent="-342900" marL="342900">
              <a:buAutoNum type="arabicPeriod"/>
            </a:pPr>
            <a:r>
              <a:rPr b="1"/>
              <a:t>Scripts</a:t>
            </a:r>
            <a:r>
              <a:rPr/>
              <a:t> – </a:t>
            </a:r>
            <a:r>
              <a:rPr>
                <a:latin typeface="Courier"/>
              </a:rPr>
              <a:t>augment_data.py</a:t>
            </a:r>
            <a:r>
              <a:rPr/>
              <a:t>, </a:t>
            </a:r>
            <a:r>
              <a:rPr>
                <a:latin typeface="Courier"/>
              </a:rPr>
              <a:t>generate_synthetic_data.py</a:t>
            </a:r>
            <a:r>
              <a:rPr/>
              <a:t>, </a:t>
            </a:r>
            <a:r>
              <a:rPr>
                <a:latin typeface="Courier"/>
              </a:rPr>
              <a:t>download_datasets.py</a:t>
            </a:r>
            <a:r>
              <a:rPr/>
              <a:t>, </a:t>
            </a:r>
            <a:r>
              <a:rPr>
                <a:latin typeface="Courier"/>
              </a:rPr>
              <a:t>train_and_save.py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10+ parsed datasets combined (~540K+ rows)</a:t>
            </a:r>
          </a:p>
          <a:p>
            <a:pPr lvl="0"/>
            <a:r>
              <a:rPr/>
              <a:t>Sources: Kaggle (Jigsaw toxicity), Hugging Face (OLID, hate_speech), Twitter, YouTube, augmented, synthetic</a:t>
            </a:r>
          </a:p>
          <a:p>
            <a:pPr lvl="0"/>
            <a:r>
              <a:rPr/>
              <a:t>Format: </a:t>
            </a:r>
            <a:r>
              <a:rPr>
                <a:latin typeface="Courier"/>
              </a:rPr>
              <a:t>Text</a:t>
            </a:r>
            <a:r>
              <a:rPr/>
              <a:t> + </a:t>
            </a:r>
            <a:r>
              <a:rPr>
                <a:latin typeface="Courier"/>
              </a:rPr>
              <a:t>oh_label</a:t>
            </a:r>
            <a:r>
              <a:rPr/>
              <a:t> (0/1)</a:t>
            </a:r>
          </a:p>
          <a:p>
            <a:pPr lvl="0"/>
            <a:r>
              <a:rPr/>
              <a:t>Class balance: ~87% non-bullying, ~13% bullying</a:t>
            </a:r>
          </a:p>
          <a:p>
            <a:pPr lvl="0"/>
            <a:r>
              <a:rPr/>
              <a:t>Scripts: </a:t>
            </a:r>
            <a:r>
              <a:rPr>
                <a:latin typeface="Courier"/>
              </a:rPr>
              <a:t>augment_data.py</a:t>
            </a:r>
            <a:r>
              <a:rPr/>
              <a:t>, </a:t>
            </a:r>
            <a:r>
              <a:rPr>
                <a:latin typeface="Courier"/>
              </a:rPr>
              <a:t>generate_synthetic_data.py</a:t>
            </a:r>
            <a:r>
              <a:rPr/>
              <a:t>, </a:t>
            </a:r>
            <a:r>
              <a:rPr>
                <a:latin typeface="Courier"/>
              </a:rPr>
              <a:t>download_datasets.py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Load &amp; merge CSVs from </a:t>
            </a:r>
            <a:r>
              <a:rPr>
                <a:latin typeface="Courier"/>
              </a:rPr>
              <a:t>dataset/</a:t>
            </a:r>
            <a:r>
              <a:rPr/>
              <a:t> or </a:t>
            </a:r>
            <a:r>
              <a:rPr>
                <a:latin typeface="Courier"/>
              </a:rPr>
              <a:t>datasets/</a:t>
            </a:r>
          </a:p>
          <a:p>
            <a:pPr lvl="0" indent="-342900" marL="342900">
              <a:buAutoNum type="arabicPeriod"/>
            </a:pPr>
            <a:r>
              <a:rPr/>
              <a:t>Normalise labels to binary 0/1</a:t>
            </a:r>
          </a:p>
          <a:p>
            <a:pPr lvl="0" indent="-342900" marL="342900">
              <a:buAutoNum type="arabicPeriod"/>
            </a:pPr>
            <a:r>
              <a:rPr/>
              <a:t>Clean text (lowercase, remove URLs, etc.)</a:t>
            </a:r>
          </a:p>
          <a:p>
            <a:pPr lvl="0" indent="-342900" marL="342900">
              <a:buAutoNum type="arabicPeriod"/>
            </a:pPr>
            <a:r>
              <a:rPr/>
              <a:t>EDA and visualisations</a:t>
            </a:r>
          </a:p>
          <a:p>
            <a:pPr lvl="0" indent="-342900" marL="342900">
              <a:buAutoNum type="arabicPeriod"/>
            </a:pPr>
            <a:r>
              <a:rPr/>
              <a:t>Train–test split (80/20, stratified)</a:t>
            </a:r>
          </a:p>
          <a:p>
            <a:pPr lvl="0" indent="-342900" marL="342900">
              <a:buAutoNum type="arabicPeriod"/>
            </a:pPr>
            <a:r>
              <a:rPr/>
              <a:t>Fit TF-IDF + Logistic Regression</a:t>
            </a:r>
          </a:p>
          <a:p>
            <a:pPr lvl="0" indent="-342900" marL="342900">
              <a:buAutoNum type="arabicPeriod"/>
            </a:pPr>
            <a:r>
              <a:rPr/>
              <a:t>Evaluate: accuracy, precision, recall, F1, confusion matrix</a:t>
            </a:r>
          </a:p>
          <a:p>
            <a:pPr lvl="0" indent="-342900" marL="342900">
              <a:buAutoNum type="arabicPeriod"/>
            </a:pPr>
            <a:r>
              <a:rPr/>
              <a:t>Export model (</a:t>
            </a:r>
            <a:r>
              <a:rPr>
                <a:latin typeface="Courier"/>
              </a:rPr>
              <a:t>models/</a:t>
            </a:r>
            <a:r>
              <a:rPr/>
              <a:t> or </a:t>
            </a:r>
            <a:r>
              <a:rPr>
                <a:latin typeface="Courier"/>
              </a:rPr>
              <a:t>outputs/</a:t>
            </a:r>
            <a:r>
              <a:rPr/>
              <a:t>) and predictions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Implementation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Streamlit App:</a:t>
            </a:r>
            <a:r>
              <a:rPr/>
              <a:t> Predict (single, paste bulk, batch CSV with progress bar), Chat analysis (upload/paste, auto/whatsapp/telegram/discord, date filter, per-sender summary, export), Train (stats, feature importance, downloadable report/confusion matrix), About</a:t>
            </a:r>
          </a:p>
          <a:p>
            <a:pPr lvl="0"/>
            <a:r>
              <a:rPr b="1"/>
              <a:t>Core modules:</a:t>
            </a:r>
            <a:r>
              <a:rPr/>
              <a:t> </a:t>
            </a:r>
            <a:r>
              <a:rPr>
                <a:latin typeface="Courier"/>
              </a:rPr>
              <a:t>core/data_loader.py</a:t>
            </a:r>
            <a:r>
              <a:rPr/>
              <a:t>, </a:t>
            </a:r>
            <a:r>
              <a:rPr>
                <a:latin typeface="Courier"/>
              </a:rPr>
              <a:t>core/model_utils.py</a:t>
            </a:r>
            <a:r>
              <a:rPr/>
              <a:t>, </a:t>
            </a:r>
            <a:r>
              <a:rPr>
                <a:latin typeface="Courier"/>
              </a:rPr>
              <a:t>core/chat_parser.py</a:t>
            </a:r>
          </a:p>
          <a:p>
            <a:pPr lvl="0"/>
            <a:r>
              <a:rPr b="1"/>
              <a:t>Lazy model loading:</a:t>
            </a:r>
            <a:r>
              <a:rPr/>
              <a:t> </a:t>
            </a:r>
            <a:r>
              <a:rPr>
                <a:latin typeface="Courier"/>
              </a:rPr>
              <a:t>@st.cache_resource</a:t>
            </a:r>
            <a:r>
              <a:rPr/>
              <a:t> for Streamlit Cloud</a:t>
            </a:r>
          </a:p>
          <a:p>
            <a:pPr lvl="0"/>
            <a:r>
              <a:rPr b="1"/>
              <a:t>Session stats:</a:t>
            </a:r>
            <a:r>
              <a:rPr/>
              <a:t> Prediction counts in sidebar</a:t>
            </a:r>
          </a:p>
          <a:p>
            <a:pPr lvl="0"/>
            <a:r>
              <a:rPr b="1"/>
              <a:t>Deployment:</a:t>
            </a:r>
            <a:r>
              <a:rPr/>
              <a:t> Streamlit Cloud; GitHub: github.com/itsmehari/TrollGuard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Accuracy:</a:t>
            </a:r>
            <a:r>
              <a:rPr/>
              <a:t> ~85–92% (baseline)</a:t>
            </a:r>
          </a:p>
          <a:p>
            <a:pPr lvl="0"/>
            <a:r>
              <a:rPr b="1"/>
              <a:t>Metrics:</a:t>
            </a:r>
            <a:r>
              <a:rPr/>
              <a:t> Precision, recall, F1; confusion matrix (downloadable)</a:t>
            </a:r>
          </a:p>
          <a:p>
            <a:pPr lvl="0"/>
            <a:r>
              <a:rPr b="1"/>
              <a:t>Feature importance:</a:t>
            </a:r>
            <a:r>
              <a:rPr/>
              <a:t> Top bullying/safe words in sidebar and Train tab</a:t>
            </a:r>
          </a:p>
          <a:p>
            <a:pPr lvl="0"/>
            <a:r>
              <a:rPr b="1"/>
              <a:t>Chat export:</a:t>
            </a:r>
            <a:r>
              <a:rPr/>
              <a:t> Per-sender summary (total, flagged, flagged %); date filter; CSV export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English only</a:t>
            </a:r>
          </a:p>
          <a:p>
            <a:pPr lvl="0"/>
            <a:r>
              <a:rPr/>
              <a:t>Message-level only (limited conversation context)</a:t>
            </a:r>
          </a:p>
          <a:p>
            <a:pPr lvl="0"/>
            <a:r>
              <a:rPr/>
              <a:t>No image / audio / video</a:t>
            </a:r>
          </a:p>
          <a:p>
            <a:pPr lvl="0"/>
            <a:r>
              <a:rPr/>
              <a:t>Dataset bias; sarcasm and coded language challenging</a:t>
            </a:r>
          </a:p>
          <a:p>
            <a:pPr lvl="0"/>
            <a:r>
              <a:rPr/>
              <a:t>No real-time API by default</a:t>
            </a:r>
          </a:p>
          <a:p>
            <a:pPr lvl="0"/>
            <a:r>
              <a:rPr/>
              <a:t>Input limits (50K chars, 10K batch rows)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Multilingual and code-mixed support</a:t>
            </a:r>
          </a:p>
          <a:p>
            <a:pPr lvl="0"/>
            <a:r>
              <a:rPr/>
              <a:t>Real-time REST API</a:t>
            </a:r>
          </a:p>
          <a:p>
            <a:pPr lvl="0"/>
            <a:r>
              <a:rPr/>
              <a:t>User feedback loop (moderator corrections for retraining)</a:t>
            </a:r>
          </a:p>
          <a:p>
            <a:pPr lvl="0"/>
            <a:r>
              <a:rPr/>
              <a:t>Multimodal analysis (images, voice)</a:t>
            </a:r>
          </a:p>
          <a:p>
            <a:pPr lvl="0"/>
            <a:r>
              <a:rPr/>
              <a:t>Transformer-based models (e.g. BERT)</a:t>
            </a:r>
          </a:p>
          <a:p>
            <a:pPr lvl="0"/>
            <a:r>
              <a:rPr i="1"/>
              <a:t>Explainability via feature importance already implemented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TrollGuard: end-to-end cyberbullying detection pipeline</a:t>
            </a:r>
          </a:p>
          <a:p>
            <a:pPr lvl="0"/>
            <a:r>
              <a:rPr/>
              <a:t>TF-IDF + Logistic Regression provides a strong, interpretable baseline</a:t>
            </a:r>
          </a:p>
          <a:p>
            <a:pPr lvl="0"/>
            <a:r>
              <a:rPr/>
              <a:t>Streamlit app for prediction, chat analysis, and training</a:t>
            </a:r>
          </a:p>
          <a:p>
            <a:pPr lvl="0"/>
            <a:r>
              <a:rPr/>
              <a:t>Suitable for moderation assistance in schools and organisations</a:t>
            </a:r>
          </a:p>
          <a:p>
            <a:pPr lvl="0"/>
            <a:r>
              <a:rPr/>
              <a:t>Foundation for transformer-based and multilingual extensions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Questions?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– Demo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(Insert screenshots of Streamlit app: Predict tab, Chat analysis with date filter, Train tab with confusion matrix, sidebar feature importance)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2026-03-10T15:51:17Z</dcterms:created>
  <dcterms:modified xsi:type="dcterms:W3CDTF">2026-03-10T15:51:17Z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ackgroundColor">
    <vt:lpwstr/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theme">
    <vt:lpwstr>default</vt:lpwstr>
  </property>
</Properties>
</file>